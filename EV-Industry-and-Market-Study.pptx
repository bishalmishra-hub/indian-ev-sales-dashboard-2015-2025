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7" r:id="rId1"/>
  </p:sldMasterIdLst>
  <p:notesMasterIdLst>
    <p:notesMasterId r:id="rId15"/>
  </p:notesMasterIdLst>
  <p:sldIdLst>
    <p:sldId id="257" r:id="rId2"/>
    <p:sldId id="258" r:id="rId3"/>
    <p:sldId id="266" r:id="rId4"/>
    <p:sldId id="259" r:id="rId5"/>
    <p:sldId id="260" r:id="rId6"/>
    <p:sldId id="272" r:id="rId7"/>
    <p:sldId id="270" r:id="rId8"/>
    <p:sldId id="268" r:id="rId9"/>
    <p:sldId id="267" r:id="rId10"/>
    <p:sldId id="261" r:id="rId11"/>
    <p:sldId id="262" r:id="rId12"/>
    <p:sldId id="264" r:id="rId13"/>
    <p:sldId id="265" r:id="rId14"/>
  </p:sldIdLst>
  <p:sldSz cx="13825538" cy="6697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>
          <p15:clr>
            <a:srgbClr val="A4A3A4"/>
          </p15:clr>
        </p15:guide>
        <p15:guide id="2" pos="43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1" y="432"/>
      </p:cViewPr>
      <p:guideLst>
        <p:guide orient="horz" pos="2110"/>
        <p:guide pos="4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181D4-236D-4D78-A1E5-8BBFCA60A23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475" y="1143000"/>
            <a:ext cx="6369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E5B86-D990-443A-BC40-0FFECF837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3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269"/>
            <a:ext cx="13825538" cy="6705932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8991" y="2348317"/>
            <a:ext cx="8807584" cy="1607812"/>
          </a:xfrm>
        </p:spPr>
        <p:txBody>
          <a:bodyPr anchor="b">
            <a:noAutofit/>
          </a:bodyPr>
          <a:lstStyle>
            <a:lvl1pPr algn="r">
              <a:defRPr sz="5274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8991" y="3956127"/>
            <a:ext cx="8807584" cy="107125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46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93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39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325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79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25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72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D56B8-9ADC-44E1-A510-B9087BEDE1FB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18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1657-AF0A-44C0-B6F8-7317D0C730A5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88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87" y="2637723"/>
            <a:ext cx="9748488" cy="1783876"/>
          </a:xfrm>
        </p:spPr>
        <p:txBody>
          <a:bodyPr anchor="b"/>
          <a:lstStyle>
            <a:lvl1pPr algn="l">
              <a:defRPr sz="39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87" y="4421598"/>
            <a:ext cx="9748488" cy="840284"/>
          </a:xfrm>
        </p:spPr>
        <p:txBody>
          <a:bodyPr anchor="t"/>
          <a:lstStyle>
            <a:lvl1pPr marL="0" indent="0" algn="l">
              <a:buNone/>
              <a:defRPr sz="195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46502" indent="0">
              <a:buNone/>
              <a:defRPr sz="1758">
                <a:solidFill>
                  <a:schemeClr val="tx1">
                    <a:tint val="75000"/>
                  </a:schemeClr>
                </a:solidFill>
              </a:defRPr>
            </a:lvl2pPr>
            <a:lvl3pPr marL="89300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3pPr>
            <a:lvl4pPr marL="1339505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78600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223250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679009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3125511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57201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3E242-8065-4D3E-99C1-67FBABAC8169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8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87" y="2110076"/>
            <a:ext cx="4744630" cy="3790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1947" y="2110076"/>
            <a:ext cx="4744629" cy="3790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7515-871B-47FB-94FD-F6E626334E62}" type="datetime1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5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285" y="2110460"/>
            <a:ext cx="4746431" cy="562789"/>
          </a:xfrm>
        </p:spPr>
        <p:txBody>
          <a:bodyPr anchor="b">
            <a:noAutofit/>
          </a:bodyPr>
          <a:lstStyle>
            <a:lvl1pPr marL="0" indent="0">
              <a:buNone/>
              <a:defRPr sz="2344" b="0"/>
            </a:lvl1pPr>
            <a:lvl2pPr marL="446502" indent="0">
              <a:buNone/>
              <a:defRPr sz="1953" b="1"/>
            </a:lvl2pPr>
            <a:lvl3pPr marL="893003" indent="0">
              <a:buNone/>
              <a:defRPr sz="1758" b="1"/>
            </a:lvl3pPr>
            <a:lvl4pPr marL="1339505" indent="0">
              <a:buNone/>
              <a:defRPr sz="1563" b="1"/>
            </a:lvl4pPr>
            <a:lvl5pPr marL="1786006" indent="0">
              <a:buNone/>
              <a:defRPr sz="1563" b="1"/>
            </a:lvl5pPr>
            <a:lvl6pPr marL="2232508" indent="0">
              <a:buNone/>
              <a:defRPr sz="1563" b="1"/>
            </a:lvl6pPr>
            <a:lvl7pPr marL="2679009" indent="0">
              <a:buNone/>
              <a:defRPr sz="1563" b="1"/>
            </a:lvl7pPr>
            <a:lvl8pPr marL="3125511" indent="0">
              <a:buNone/>
              <a:defRPr sz="1563" b="1"/>
            </a:lvl8pPr>
            <a:lvl9pPr marL="3572012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6285" y="2673250"/>
            <a:ext cx="4746431" cy="322686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70147" y="2110460"/>
            <a:ext cx="4746426" cy="562789"/>
          </a:xfrm>
        </p:spPr>
        <p:txBody>
          <a:bodyPr anchor="b">
            <a:noAutofit/>
          </a:bodyPr>
          <a:lstStyle>
            <a:lvl1pPr marL="0" indent="0">
              <a:buNone/>
              <a:defRPr sz="2344" b="0"/>
            </a:lvl1pPr>
            <a:lvl2pPr marL="446502" indent="0">
              <a:buNone/>
              <a:defRPr sz="1953" b="1"/>
            </a:lvl2pPr>
            <a:lvl3pPr marL="893003" indent="0">
              <a:buNone/>
              <a:defRPr sz="1758" b="1"/>
            </a:lvl3pPr>
            <a:lvl4pPr marL="1339505" indent="0">
              <a:buNone/>
              <a:defRPr sz="1563" b="1"/>
            </a:lvl4pPr>
            <a:lvl5pPr marL="1786006" indent="0">
              <a:buNone/>
              <a:defRPr sz="1563" b="1"/>
            </a:lvl5pPr>
            <a:lvl6pPr marL="2232508" indent="0">
              <a:buNone/>
              <a:defRPr sz="1563" b="1"/>
            </a:lvl6pPr>
            <a:lvl7pPr marL="2679009" indent="0">
              <a:buNone/>
              <a:defRPr sz="1563" b="1"/>
            </a:lvl7pPr>
            <a:lvl8pPr marL="3125511" indent="0">
              <a:buNone/>
              <a:defRPr sz="1563" b="1"/>
            </a:lvl8pPr>
            <a:lvl9pPr marL="3572012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70149" y="2673250"/>
            <a:ext cx="4746424" cy="322686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815E-6C89-40A1-BC1C-D59EE51676DC}" type="datetime1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39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86" y="595348"/>
            <a:ext cx="9748488" cy="1289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E065-CF28-4293-9D4C-DD09C6C2CEB6}" type="datetime1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10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6947D-2A96-4956-B869-8E9998F6EFD8}" type="datetime1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650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86" y="1463567"/>
            <a:ext cx="4370975" cy="1248576"/>
          </a:xfrm>
        </p:spPr>
        <p:txBody>
          <a:bodyPr anchor="b">
            <a:normAutofit/>
          </a:bodyPr>
          <a:lstStyle>
            <a:lvl1pPr>
              <a:defRPr sz="1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289" y="502886"/>
            <a:ext cx="5118285" cy="539723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86" y="2712143"/>
            <a:ext cx="4370975" cy="2524026"/>
          </a:xfrm>
        </p:spPr>
        <p:txBody>
          <a:bodyPr>
            <a:normAutofit/>
          </a:bodyPr>
          <a:lstStyle>
            <a:lvl1pPr marL="0" indent="0">
              <a:buNone/>
              <a:defRPr sz="1367"/>
            </a:lvl1pPr>
            <a:lvl2pPr marL="446368" indent="0">
              <a:buNone/>
              <a:defRPr sz="1367"/>
            </a:lvl2pPr>
            <a:lvl3pPr marL="892735" indent="0">
              <a:buNone/>
              <a:defRPr sz="1172"/>
            </a:lvl3pPr>
            <a:lvl4pPr marL="1339103" indent="0">
              <a:buNone/>
              <a:defRPr sz="977"/>
            </a:lvl4pPr>
            <a:lvl5pPr marL="1785470" indent="0">
              <a:buNone/>
              <a:defRPr sz="977"/>
            </a:lvl5pPr>
            <a:lvl6pPr marL="2231838" indent="0">
              <a:buNone/>
              <a:defRPr sz="977"/>
            </a:lvl6pPr>
            <a:lvl7pPr marL="2678205" indent="0">
              <a:buNone/>
              <a:defRPr sz="977"/>
            </a:lvl7pPr>
            <a:lvl8pPr marL="3124573" indent="0">
              <a:buNone/>
              <a:defRPr sz="977"/>
            </a:lvl8pPr>
            <a:lvl9pPr marL="3570941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4DA-0D94-4EA1-AE5C-F06AE9682825}" type="datetime1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2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87" y="4688364"/>
            <a:ext cx="9748486" cy="553488"/>
          </a:xfrm>
        </p:spPr>
        <p:txBody>
          <a:bodyPr anchor="b">
            <a:normAutofit/>
          </a:bodyPr>
          <a:lstStyle>
            <a:lvl1pPr algn="l">
              <a:defRPr sz="2344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8086" y="595348"/>
            <a:ext cx="9748488" cy="3755807"/>
          </a:xfrm>
        </p:spPr>
        <p:txBody>
          <a:bodyPr anchor="t">
            <a:normAutofit/>
          </a:bodyPr>
          <a:lstStyle>
            <a:lvl1pPr marL="0" indent="0" algn="ctr">
              <a:buNone/>
              <a:defRPr sz="1563"/>
            </a:lvl1pPr>
            <a:lvl2pPr marL="446502" indent="0">
              <a:buNone/>
              <a:defRPr sz="1563"/>
            </a:lvl2pPr>
            <a:lvl3pPr marL="893003" indent="0">
              <a:buNone/>
              <a:defRPr sz="1563"/>
            </a:lvl3pPr>
            <a:lvl4pPr marL="1339505" indent="0">
              <a:buNone/>
              <a:defRPr sz="1563"/>
            </a:lvl4pPr>
            <a:lvl5pPr marL="1786006" indent="0">
              <a:buNone/>
              <a:defRPr sz="1563"/>
            </a:lvl5pPr>
            <a:lvl6pPr marL="2232508" indent="0">
              <a:buNone/>
              <a:defRPr sz="1563"/>
            </a:lvl6pPr>
            <a:lvl7pPr marL="2679009" indent="0">
              <a:buNone/>
              <a:defRPr sz="1563"/>
            </a:lvl7pPr>
            <a:lvl8pPr marL="3125511" indent="0">
              <a:buNone/>
              <a:defRPr sz="1563"/>
            </a:lvl8pPr>
            <a:lvl9pPr marL="3572012" indent="0">
              <a:buNone/>
              <a:defRPr sz="15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87" y="5241852"/>
            <a:ext cx="9748486" cy="658266"/>
          </a:xfrm>
        </p:spPr>
        <p:txBody>
          <a:bodyPr>
            <a:normAutofit/>
          </a:bodyPr>
          <a:lstStyle>
            <a:lvl1pPr marL="0" indent="0">
              <a:buNone/>
              <a:defRPr sz="1172"/>
            </a:lvl1pPr>
            <a:lvl2pPr marL="446502" indent="0">
              <a:buNone/>
              <a:defRPr sz="1172"/>
            </a:lvl2pPr>
            <a:lvl3pPr marL="893003" indent="0">
              <a:buNone/>
              <a:defRPr sz="977"/>
            </a:lvl3pPr>
            <a:lvl4pPr marL="1339505" indent="0">
              <a:buNone/>
              <a:defRPr sz="879"/>
            </a:lvl4pPr>
            <a:lvl5pPr marL="1786006" indent="0">
              <a:buNone/>
              <a:defRPr sz="879"/>
            </a:lvl5pPr>
            <a:lvl6pPr marL="2232508" indent="0">
              <a:buNone/>
              <a:defRPr sz="879"/>
            </a:lvl6pPr>
            <a:lvl7pPr marL="2679009" indent="0">
              <a:buNone/>
              <a:defRPr sz="879"/>
            </a:lvl7pPr>
            <a:lvl8pPr marL="3125511" indent="0">
              <a:buNone/>
              <a:defRPr sz="879"/>
            </a:lvl8pPr>
            <a:lvl9pPr marL="3572012" indent="0">
              <a:buNone/>
              <a:defRPr sz="8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E40F-EE35-4060-9191-38F3C41EA8EC}" type="datetime1">
              <a:rPr lang="en-IN" smtClean="0"/>
              <a:t>20-11-2025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86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87" y="595348"/>
            <a:ext cx="9748488" cy="3324025"/>
          </a:xfrm>
        </p:spPr>
        <p:txBody>
          <a:bodyPr anchor="ctr">
            <a:normAutofit/>
          </a:bodyPr>
          <a:lstStyle>
            <a:lvl1pPr algn="l">
              <a:defRPr sz="429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87" y="4365884"/>
            <a:ext cx="9748488" cy="1534234"/>
          </a:xfrm>
        </p:spPr>
        <p:txBody>
          <a:bodyPr anchor="ctr">
            <a:normAutofit/>
          </a:bodyPr>
          <a:lstStyle>
            <a:lvl1pPr marL="0" indent="0" algn="l">
              <a:buNone/>
              <a:defRPr sz="175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6502" indent="0">
              <a:buNone/>
              <a:defRPr sz="1758">
                <a:solidFill>
                  <a:schemeClr val="tx1">
                    <a:tint val="75000"/>
                  </a:schemeClr>
                </a:solidFill>
              </a:defRPr>
            </a:lvl2pPr>
            <a:lvl3pPr marL="89300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3pPr>
            <a:lvl4pPr marL="1339505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78600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223250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679009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3125511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57201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400D-70BA-4754-9CA6-8024E2705F49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80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118" y="595348"/>
            <a:ext cx="9178622" cy="2951933"/>
          </a:xfrm>
        </p:spPr>
        <p:txBody>
          <a:bodyPr anchor="ctr">
            <a:normAutofit/>
          </a:bodyPr>
          <a:lstStyle>
            <a:lvl1pPr algn="l">
              <a:defRPr sz="429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49180" y="3547281"/>
            <a:ext cx="8192498" cy="37209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6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46502" indent="0">
              <a:buFontTx/>
              <a:buNone/>
              <a:defRPr/>
            </a:lvl2pPr>
            <a:lvl3pPr marL="893003" indent="0">
              <a:buFontTx/>
              <a:buNone/>
              <a:defRPr/>
            </a:lvl3pPr>
            <a:lvl4pPr marL="1339505" indent="0">
              <a:buFontTx/>
              <a:buNone/>
              <a:defRPr/>
            </a:lvl4pPr>
            <a:lvl5pPr marL="178600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87" y="4365884"/>
            <a:ext cx="9748488" cy="1534234"/>
          </a:xfrm>
        </p:spPr>
        <p:txBody>
          <a:bodyPr anchor="ctr">
            <a:normAutofit/>
          </a:bodyPr>
          <a:lstStyle>
            <a:lvl1pPr marL="0" indent="0" algn="l">
              <a:buNone/>
              <a:defRPr sz="175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6502" indent="0">
              <a:buNone/>
              <a:defRPr sz="1758">
                <a:solidFill>
                  <a:schemeClr val="tx1">
                    <a:tint val="75000"/>
                  </a:schemeClr>
                </a:solidFill>
              </a:defRPr>
            </a:lvl2pPr>
            <a:lvl3pPr marL="89300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3pPr>
            <a:lvl4pPr marL="1339505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78600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223250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679009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3125511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57201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151E-02DB-440F-89CF-BC9CCB18432E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614472" y="771899"/>
            <a:ext cx="691277" cy="571104"/>
          </a:xfrm>
          <a:prstGeom prst="rect">
            <a:avLst/>
          </a:prstGeom>
        </p:spPr>
        <p:txBody>
          <a:bodyPr vert="horz" lIns="89302" tIns="44651" rIns="89302" bIns="44651" rtlCol="0" anchor="ctr">
            <a:noAutofit/>
          </a:bodyPr>
          <a:lstStyle/>
          <a:p>
            <a:pPr lvl="0"/>
            <a:r>
              <a:rPr lang="en-US" sz="7813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4536" y="2819070"/>
            <a:ext cx="691277" cy="571104"/>
          </a:xfrm>
          <a:prstGeom prst="rect">
            <a:avLst/>
          </a:prstGeom>
        </p:spPr>
        <p:txBody>
          <a:bodyPr vert="horz" lIns="89302" tIns="44651" rIns="89302" bIns="44651" rtlCol="0" anchor="ctr">
            <a:noAutofit/>
          </a:bodyPr>
          <a:lstStyle/>
          <a:p>
            <a:pPr lvl="0"/>
            <a:r>
              <a:rPr lang="en-US" sz="7813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006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87" y="1886819"/>
            <a:ext cx="9748488" cy="2534779"/>
          </a:xfrm>
        </p:spPr>
        <p:txBody>
          <a:bodyPr anchor="b">
            <a:normAutofit/>
          </a:bodyPr>
          <a:lstStyle>
            <a:lvl1pPr algn="l">
              <a:defRPr sz="429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87" y="4421598"/>
            <a:ext cx="9748488" cy="1478519"/>
          </a:xfrm>
        </p:spPr>
        <p:txBody>
          <a:bodyPr anchor="t">
            <a:normAutofit/>
          </a:bodyPr>
          <a:lstStyle>
            <a:lvl1pPr marL="0" indent="0" algn="l">
              <a:buNone/>
              <a:defRPr sz="175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6502" indent="0">
              <a:buNone/>
              <a:defRPr sz="1758">
                <a:solidFill>
                  <a:schemeClr val="tx1">
                    <a:tint val="75000"/>
                  </a:schemeClr>
                </a:solidFill>
              </a:defRPr>
            </a:lvl2pPr>
            <a:lvl3pPr marL="89300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3pPr>
            <a:lvl4pPr marL="1339505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78600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223250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679009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3125511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57201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8BF5-8C68-4A2F-A118-9D85874C6094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113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118" y="595348"/>
            <a:ext cx="9178622" cy="2951933"/>
          </a:xfrm>
        </p:spPr>
        <p:txBody>
          <a:bodyPr anchor="ctr">
            <a:normAutofit/>
          </a:bodyPr>
          <a:lstStyle>
            <a:lvl1pPr algn="l">
              <a:defRPr sz="429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68084" y="3919373"/>
            <a:ext cx="9748489" cy="50222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4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6502" indent="0">
              <a:buFontTx/>
              <a:buNone/>
              <a:defRPr/>
            </a:lvl2pPr>
            <a:lvl3pPr marL="893003" indent="0">
              <a:buFontTx/>
              <a:buNone/>
              <a:defRPr/>
            </a:lvl3pPr>
            <a:lvl4pPr marL="1339505" indent="0">
              <a:buFontTx/>
              <a:buNone/>
              <a:defRPr/>
            </a:lvl4pPr>
            <a:lvl5pPr marL="178600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87" y="4421598"/>
            <a:ext cx="9748488" cy="1478519"/>
          </a:xfrm>
        </p:spPr>
        <p:txBody>
          <a:bodyPr anchor="t">
            <a:normAutofit/>
          </a:bodyPr>
          <a:lstStyle>
            <a:lvl1pPr marL="0" indent="0" algn="l">
              <a:buNone/>
              <a:defRPr sz="175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46502" indent="0">
              <a:buNone/>
              <a:defRPr sz="1758">
                <a:solidFill>
                  <a:schemeClr val="tx1">
                    <a:tint val="75000"/>
                  </a:schemeClr>
                </a:solidFill>
              </a:defRPr>
            </a:lvl2pPr>
            <a:lvl3pPr marL="89300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3pPr>
            <a:lvl4pPr marL="1339505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78600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223250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679009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3125511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57201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B628-25F5-4DBC-A774-933EE3ECD91A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614472" y="771899"/>
            <a:ext cx="691277" cy="571104"/>
          </a:xfrm>
          <a:prstGeom prst="rect">
            <a:avLst/>
          </a:prstGeom>
        </p:spPr>
        <p:txBody>
          <a:bodyPr vert="horz" lIns="89302" tIns="44651" rIns="89302" bIns="44651" rtlCol="0" anchor="ctr">
            <a:noAutofit/>
          </a:bodyPr>
          <a:lstStyle/>
          <a:p>
            <a:pPr lvl="0"/>
            <a:r>
              <a:rPr lang="en-US" sz="7813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4536" y="2819070"/>
            <a:ext cx="691277" cy="571104"/>
          </a:xfrm>
          <a:prstGeom prst="rect">
            <a:avLst/>
          </a:prstGeom>
        </p:spPr>
        <p:txBody>
          <a:bodyPr vert="horz" lIns="89302" tIns="44651" rIns="89302" bIns="44651" rtlCol="0" anchor="ctr">
            <a:noAutofit/>
          </a:bodyPr>
          <a:lstStyle/>
          <a:p>
            <a:pPr lvl="0"/>
            <a:r>
              <a:rPr lang="en-US" sz="7813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6525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686" y="595348"/>
            <a:ext cx="9738888" cy="2951933"/>
          </a:xfrm>
        </p:spPr>
        <p:txBody>
          <a:bodyPr anchor="ctr">
            <a:normAutofit/>
          </a:bodyPr>
          <a:lstStyle>
            <a:lvl1pPr algn="l">
              <a:defRPr sz="429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68084" y="3919373"/>
            <a:ext cx="9748489" cy="50222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44">
                <a:solidFill>
                  <a:schemeClr val="accent1"/>
                </a:solidFill>
              </a:defRPr>
            </a:lvl1pPr>
            <a:lvl2pPr marL="446502" indent="0">
              <a:buFontTx/>
              <a:buNone/>
              <a:defRPr/>
            </a:lvl2pPr>
            <a:lvl3pPr marL="893003" indent="0">
              <a:buFontTx/>
              <a:buNone/>
              <a:defRPr/>
            </a:lvl3pPr>
            <a:lvl4pPr marL="1339505" indent="0">
              <a:buFontTx/>
              <a:buNone/>
              <a:defRPr/>
            </a:lvl4pPr>
            <a:lvl5pPr marL="178600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87" y="4421598"/>
            <a:ext cx="9748488" cy="1478519"/>
          </a:xfrm>
        </p:spPr>
        <p:txBody>
          <a:bodyPr anchor="t">
            <a:normAutofit/>
          </a:bodyPr>
          <a:lstStyle>
            <a:lvl1pPr marL="0" indent="0" algn="l">
              <a:buNone/>
              <a:defRPr sz="175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46502" indent="0">
              <a:buNone/>
              <a:defRPr sz="1758">
                <a:solidFill>
                  <a:schemeClr val="tx1">
                    <a:tint val="75000"/>
                  </a:schemeClr>
                </a:solidFill>
              </a:defRPr>
            </a:lvl2pPr>
            <a:lvl3pPr marL="89300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3pPr>
            <a:lvl4pPr marL="1339505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78600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223250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679009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3125511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57201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B84C-35BE-4401-8B31-9E3588625860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139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5E3F-DC2B-47CB-A28E-740C77166750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745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35218" y="595348"/>
            <a:ext cx="1479558" cy="512867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087" y="595348"/>
            <a:ext cx="8006100" cy="51286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C94F9-6FA8-4AFB-9554-F2272BF3D232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2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269"/>
            <a:ext cx="13825538" cy="6705932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86" y="595348"/>
            <a:ext cx="9748488" cy="1289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86" y="2110076"/>
            <a:ext cx="9748488" cy="3790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0509" y="5900118"/>
            <a:ext cx="1034125" cy="356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D8A3C-4E98-4296-9AAE-7E400BB58BA7}" type="datetime1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8086" y="5900118"/>
            <a:ext cx="7141394" cy="356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Bishal Kumar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41678" y="5900118"/>
            <a:ext cx="774896" cy="356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9">
                <a:solidFill>
                  <a:schemeClr val="accent1"/>
                </a:solidFill>
              </a:defRPr>
            </a:lvl1pPr>
          </a:lstStyle>
          <a:p>
            <a:fld id="{238B9089-4669-44D5-90AA-F15994F86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54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</p:sldLayoutIdLst>
  <p:hf hdr="0" dt="0"/>
  <p:txStyles>
    <p:titleStyle>
      <a:lvl1pPr algn="l" defTabSz="446502" rtl="0" eaLnBrk="1" latinLnBrk="0" hangingPunct="1">
        <a:spcBef>
          <a:spcPct val="0"/>
        </a:spcBef>
        <a:buNone/>
        <a:defRPr sz="3516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34876" indent="-334876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5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565" indent="-279063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6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16254" indent="-223251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62755" indent="-223251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7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09257" indent="-223251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7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455758" indent="-223251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7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02260" indent="-223251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7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348761" indent="-223251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7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795263" indent="-223251" algn="l" defTabSz="446502" rtl="0" eaLnBrk="1" latinLnBrk="0" hangingPunct="1">
        <a:spcBef>
          <a:spcPts val="97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7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1pPr>
      <a:lvl2pPr marL="446502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2pPr>
      <a:lvl3pPr marL="893003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3pPr>
      <a:lvl4pPr marL="1339505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4pPr>
      <a:lvl5pPr marL="1786006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5pPr>
      <a:lvl6pPr marL="2232508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6pPr>
      <a:lvl7pPr marL="2679009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7pPr>
      <a:lvl8pPr marL="3125511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8pPr>
      <a:lvl9pPr marL="3572012" algn="l" defTabSz="446502" rtl="0" eaLnBrk="1" latinLnBrk="0" hangingPunct="1">
        <a:defRPr sz="17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0161" y="1072615"/>
            <a:ext cx="103691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   	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0161" y="868410"/>
            <a:ext cx="950505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lgerian" panose="04020705040A02060702" pitchFamily="82" charset="0"/>
              </a:rPr>
              <a:t>Indian Electric Vehicle (EV) Sales &amp; Market Dashboard</a:t>
            </a:r>
            <a:br>
              <a:rPr lang="en-US" sz="4400" b="1" dirty="0">
                <a:latin typeface="Algerian" panose="04020705040A02060702" pitchFamily="82" charset="0"/>
              </a:rPr>
            </a:br>
            <a:r>
              <a:rPr lang="en-US" sz="4400" b="1" dirty="0">
                <a:latin typeface="Algerian" panose="04020705040A02060702" pitchFamily="82" charset="0"/>
              </a:rPr>
              <a:t>(2015–2025)</a:t>
            </a:r>
            <a:endParaRPr lang="en-GB" sz="4400" b="1" cap="all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975B1-978E-6DCA-EAEE-87DDBE410ACA}"/>
              </a:ext>
            </a:extLst>
          </p:cNvPr>
          <p:cNvSpPr txBox="1"/>
          <p:nvPr/>
        </p:nvSpPr>
        <p:spPr>
          <a:xfrm>
            <a:off x="5976665" y="4530822"/>
            <a:ext cx="6192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Prepared by: </a:t>
            </a:r>
            <a:r>
              <a:rPr lang="en-US" b="1" dirty="0"/>
              <a:t>Bishal Kumar Mishra</a:t>
            </a:r>
            <a:br>
              <a:rPr lang="en-US" dirty="0"/>
            </a:br>
            <a:r>
              <a:rPr lang="en-US" dirty="0"/>
              <a:t>Tools Used: Power BI, DAX</a:t>
            </a:r>
            <a:br>
              <a:rPr lang="en-US" dirty="0"/>
            </a:br>
            <a:r>
              <a:rPr lang="en-US" dirty="0"/>
              <a:t>Dataset: Indian EV Sales (2015–2025)</a:t>
            </a:r>
          </a:p>
          <a:p>
            <a:r>
              <a:rPr lang="en-US" dirty="0"/>
              <a:t>Date: 20-11-2025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3A455-7978-9C7D-B828-71B9D7B58B8D}"/>
              </a:ext>
            </a:extLst>
          </p:cNvPr>
          <p:cNvSpPr txBox="1"/>
          <p:nvPr/>
        </p:nvSpPr>
        <p:spPr>
          <a:xfrm>
            <a:off x="1908213" y="2980245"/>
            <a:ext cx="85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“A visual understanding of how India is shifting to electric mobility”</a:t>
            </a:r>
            <a:endParaRPr lang="en-IN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73644-4F35-E493-973D-57133C71561E}"/>
              </a:ext>
            </a:extLst>
          </p:cNvPr>
          <p:cNvSpPr txBox="1"/>
          <p:nvPr/>
        </p:nvSpPr>
        <p:spPr>
          <a:xfrm>
            <a:off x="288033" y="162599"/>
            <a:ext cx="129614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Task-4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2B0C-CF9B-59A4-9ADF-ECB8645E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9D82975-329F-DCC6-F841-4AB40B24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26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2200" y="468511"/>
            <a:ext cx="358896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/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73" y="1764655"/>
            <a:ext cx="116538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This project analyzes India’s EV sales over a 10-year period.</a:t>
            </a:r>
            <a:b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The purpose of the dashboard is to understand EV adoption, category-wise performance, and how the market has evolved over time.</a:t>
            </a:r>
            <a:b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The analysis includes sales trends, penetration rates, category contributions and a short-term forecast.</a:t>
            </a:r>
            <a:endParaRPr lang="en-GB" sz="32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C0C8-505A-A43B-046A-79BE34D6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EAE84-02AA-3920-6228-EF3B4A2F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86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6976-8CF0-FDC0-577E-32EB2E920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5050E4-191B-2000-C04D-05470529EF06}"/>
              </a:ext>
            </a:extLst>
          </p:cNvPr>
          <p:cNvSpPr txBox="1"/>
          <p:nvPr/>
        </p:nvSpPr>
        <p:spPr>
          <a:xfrm>
            <a:off x="360041" y="396503"/>
            <a:ext cx="5256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Problem Statement</a:t>
            </a:r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96CAA-2890-53C0-ABCD-DDC55279E19F}"/>
              </a:ext>
            </a:extLst>
          </p:cNvPr>
          <p:cNvSpPr txBox="1"/>
          <p:nvPr/>
        </p:nvSpPr>
        <p:spPr>
          <a:xfrm>
            <a:off x="359068" y="1474958"/>
            <a:ext cx="118813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India’s EV market has grown rapidly in recent years, but the growth hasn’t been uniform across categories.</a:t>
            </a:r>
          </a:p>
          <a:p>
            <a:pPr>
              <a:buNone/>
            </a:pPr>
            <a:r>
              <a:rPr lang="en-US" sz="2800" dirty="0"/>
              <a:t>This project aims to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How has EV adoption changed from 2015 to 2025?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Which categories are driving growth?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How is EV penetration improving year over year?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What does the near future look like based on trends?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The dashboard helps simplify the EV market story using clear visuals and KPIs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54E7C-FFCC-EB20-53EE-0C8CEE55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390" y="6256707"/>
            <a:ext cx="7141394" cy="356589"/>
          </a:xfrm>
        </p:spPr>
        <p:txBody>
          <a:bodyPr/>
          <a:lstStyle/>
          <a:p>
            <a:r>
              <a:rPr lang="en-IN" dirty="0"/>
              <a:t>Bishal Kumar Mishra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8980F-DEAB-0B15-4AC2-F8C9EF3A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06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6065" y="324495"/>
            <a:ext cx="43508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/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956D3-9478-96E2-7AF2-4F91C0D111D7}"/>
              </a:ext>
            </a:extLst>
          </p:cNvPr>
          <p:cNvSpPr txBox="1"/>
          <p:nvPr/>
        </p:nvSpPr>
        <p:spPr>
          <a:xfrm>
            <a:off x="576065" y="1517560"/>
            <a:ext cx="1136583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dataset covers 10 years of EV sales across India and includes: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- Sales of 2W, 3W, 4W &amp; Electric Buses</a:t>
            </a:r>
          </a:p>
          <a:p>
            <a:r>
              <a:rPr lang="en-US" sz="2800" dirty="0"/>
              <a:t>- Year-by-year breakdown (2015–2025)</a:t>
            </a:r>
          </a:p>
          <a:p>
            <a:r>
              <a:rPr lang="en-US" sz="2800" dirty="0"/>
              <a:t>- EV penetration percentages</a:t>
            </a:r>
          </a:p>
          <a:p>
            <a:r>
              <a:rPr lang="en-US" sz="2800" dirty="0"/>
              <a:t>- Market segments like personal, passenger &amp; cargo</a:t>
            </a:r>
          </a:p>
          <a:p>
            <a:r>
              <a:rPr lang="en-US" sz="2800" dirty="0"/>
              <a:t>- Metrics suitable for trend, comparison &amp; forecasting visuals</a:t>
            </a:r>
          </a:p>
          <a:p>
            <a:endParaRPr lang="en-US" sz="2800" dirty="0"/>
          </a:p>
          <a:p>
            <a:r>
              <a:rPr lang="en-US" sz="2800" dirty="0"/>
              <a:t>Data was cleaned, structured and modelled in Power BI</a:t>
            </a:r>
          </a:p>
          <a:p>
            <a:pPr>
              <a:buNone/>
            </a:pPr>
            <a:endParaRPr lang="en-US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5B7E5-35DE-8348-5E2E-8B3203F34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81" y="6078412"/>
            <a:ext cx="7141394" cy="356589"/>
          </a:xfrm>
        </p:spPr>
        <p:txBody>
          <a:bodyPr/>
          <a:lstStyle/>
          <a:p>
            <a:r>
              <a:rPr lang="en-IN" dirty="0"/>
              <a:t>Bishal Kumar Mishra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3FC2B-7735-1815-BD53-279800BD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2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4057" y="252487"/>
            <a:ext cx="33009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/>
              <a:t>KPIs Used</a:t>
            </a:r>
            <a:endParaRPr lang="en-GB" sz="4400" b="1" dirty="0"/>
          </a:p>
        </p:txBody>
      </p:sp>
      <p:sp>
        <p:nvSpPr>
          <p:cNvPr id="5" name="Rectangle 4"/>
          <p:cNvSpPr/>
          <p:nvPr/>
        </p:nvSpPr>
        <p:spPr>
          <a:xfrm>
            <a:off x="504057" y="1188591"/>
            <a:ext cx="1217664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highlight the core EV market performance, these KPIs were used:</a:t>
            </a:r>
          </a:p>
          <a:p>
            <a:r>
              <a:rPr lang="en-US" sz="2800" b="1" dirty="0"/>
              <a:t>🔹</a:t>
            </a:r>
            <a:r>
              <a:rPr lang="en-US" sz="3600" b="1" dirty="0"/>
              <a:t> </a:t>
            </a:r>
            <a:r>
              <a:rPr lang="en-US" sz="2800" b="1" dirty="0"/>
              <a:t>Total EV Sales</a:t>
            </a:r>
            <a:endParaRPr lang="en-US" sz="3200" b="1" dirty="0"/>
          </a:p>
          <a:p>
            <a:r>
              <a:rPr lang="en-US" sz="2800" dirty="0"/>
              <a:t>Overall units sold across all categories.</a:t>
            </a:r>
            <a:endParaRPr lang="en-US" sz="3200" dirty="0"/>
          </a:p>
          <a:p>
            <a:r>
              <a:rPr lang="en-US" sz="2800" b="1" dirty="0"/>
              <a:t>🔹</a:t>
            </a:r>
            <a:r>
              <a:rPr lang="en-US" sz="3200" b="1" dirty="0"/>
              <a:t> </a:t>
            </a:r>
            <a:r>
              <a:rPr lang="en-US" sz="2800" b="1" dirty="0"/>
              <a:t>YoY Growth %</a:t>
            </a:r>
          </a:p>
          <a:p>
            <a:r>
              <a:rPr lang="en-US" sz="2800" dirty="0"/>
              <a:t>Annual growth rate of EV sales.</a:t>
            </a:r>
          </a:p>
          <a:p>
            <a:r>
              <a:rPr lang="en-US" sz="2800" b="1" dirty="0"/>
              <a:t>🔹 Average EV Penetration</a:t>
            </a:r>
          </a:p>
          <a:p>
            <a:r>
              <a:rPr lang="en-US" sz="2800" dirty="0"/>
              <a:t>EV share within the total vehicle market.</a:t>
            </a:r>
          </a:p>
          <a:p>
            <a:r>
              <a:rPr lang="en-US" sz="2800" b="1" dirty="0"/>
              <a:t>🔹</a:t>
            </a:r>
            <a:r>
              <a:rPr lang="en-US" sz="3200" b="1" dirty="0"/>
              <a:t> </a:t>
            </a:r>
            <a:r>
              <a:rPr lang="en-US" sz="2800" b="1" dirty="0"/>
              <a:t>Vehicle Category Count</a:t>
            </a:r>
          </a:p>
          <a:p>
            <a:r>
              <a:rPr lang="en-US" sz="2800" dirty="0"/>
              <a:t>Number of EV categories contributing to total sales.</a:t>
            </a:r>
          </a:p>
          <a:p>
            <a:r>
              <a:rPr lang="en-US" sz="2800" dirty="0"/>
              <a:t>These KPIs give a quick high-level overview before diving deeper.</a:t>
            </a:r>
          </a:p>
          <a:p>
            <a:endParaRPr lang="en-US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16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C56916-7F9F-E746-0AAC-09BB5439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4AB974B-24D0-9451-5E30-0C81D33D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0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6BC36-BD37-0064-756E-986D8199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D160C9-D30B-FBF0-A8F8-2C2848FB2611}"/>
              </a:ext>
            </a:extLst>
          </p:cNvPr>
          <p:cNvSpPr txBox="1"/>
          <p:nvPr/>
        </p:nvSpPr>
        <p:spPr>
          <a:xfrm>
            <a:off x="576065" y="243777"/>
            <a:ext cx="3960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KPI Screenshots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F5DB4-0146-2475-9851-767EC14A7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35" y="1476623"/>
            <a:ext cx="10736173" cy="2304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560D1E-6554-C738-33B4-4F7AFB058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5" y="3688371"/>
            <a:ext cx="10707594" cy="2304256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AD83BAA-C531-8E3C-3977-E319EE38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81" y="6226114"/>
            <a:ext cx="7141394" cy="356589"/>
          </a:xfrm>
        </p:spPr>
        <p:txBody>
          <a:bodyPr/>
          <a:lstStyle/>
          <a:p>
            <a:r>
              <a:rPr lang="en-IN" dirty="0"/>
              <a:t>Bishal Kumar Mishra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E4E11D1-EE57-4D6B-F5FF-99A29662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01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E8B2F-61E8-052D-2246-57F1D071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1B1E34-EE2B-C158-80ED-A914B8875E9D}"/>
              </a:ext>
            </a:extLst>
          </p:cNvPr>
          <p:cNvSpPr txBox="1"/>
          <p:nvPr/>
        </p:nvSpPr>
        <p:spPr>
          <a:xfrm>
            <a:off x="576065" y="324495"/>
            <a:ext cx="69112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Sales Trend + Forecast Screenshot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9F288-42F2-4269-2B69-1271A47C3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73" y="1138693"/>
            <a:ext cx="9793088" cy="475252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15902-FC72-0BFA-DA33-9BC3F808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089" y="6246573"/>
            <a:ext cx="7141394" cy="356589"/>
          </a:xfrm>
        </p:spPr>
        <p:txBody>
          <a:bodyPr/>
          <a:lstStyle/>
          <a:p>
            <a:r>
              <a:rPr lang="en-IN" dirty="0"/>
              <a:t>Bishal Kumar Mishra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3FE5C-B772-C8BA-7F9E-DB0CFBE1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2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E107-3119-83BF-6553-B4DCA799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302BB-D823-B124-902D-773784E75988}"/>
              </a:ext>
            </a:extLst>
          </p:cNvPr>
          <p:cNvSpPr txBox="1"/>
          <p:nvPr/>
        </p:nvSpPr>
        <p:spPr>
          <a:xfrm>
            <a:off x="374881" y="396503"/>
            <a:ext cx="7272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Category Comparison Screenshot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9FDB2-81C0-60E0-37B0-3545077E4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9" y="1290298"/>
            <a:ext cx="10405625" cy="43204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2EE0C-8E33-D320-EFA6-695E6165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95857-EB43-14EA-3B2A-93BF40EC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34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1E25-9304-B351-8BE1-C5102BD6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CE9EC7-F536-BB91-87FE-20AD8F57213F}"/>
              </a:ext>
            </a:extLst>
          </p:cNvPr>
          <p:cNvSpPr txBox="1"/>
          <p:nvPr/>
        </p:nvSpPr>
        <p:spPr>
          <a:xfrm>
            <a:off x="360041" y="252487"/>
            <a:ext cx="69112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Full Dashboard Screenshot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F38C0-A109-5A76-4671-0614662C9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1" y="1253537"/>
            <a:ext cx="11665296" cy="4972004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090701-9261-9934-8270-7CF817D4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065" y="6273462"/>
            <a:ext cx="7141394" cy="356589"/>
          </a:xfrm>
        </p:spPr>
        <p:txBody>
          <a:bodyPr/>
          <a:lstStyle/>
          <a:p>
            <a:r>
              <a:rPr lang="en-IN" dirty="0"/>
              <a:t>Bishal Kumar Mishra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BBEB7FD-EA50-C09F-2F28-6AAEC48C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9033" y="6273461"/>
            <a:ext cx="774896" cy="356589"/>
          </a:xfrm>
        </p:spPr>
        <p:txBody>
          <a:bodyPr/>
          <a:lstStyle/>
          <a:p>
            <a:fld id="{238B9089-4669-44D5-90AA-F15994F86A3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72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4057" y="396503"/>
            <a:ext cx="295959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/>
              <a:t>Key Insights</a:t>
            </a:r>
            <a:endParaRPr lang="en-GB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3DA8D-8BAB-4DAA-C1AB-60B601E9B07C}"/>
              </a:ext>
            </a:extLst>
          </p:cNvPr>
          <p:cNvSpPr txBox="1"/>
          <p:nvPr/>
        </p:nvSpPr>
        <p:spPr>
          <a:xfrm>
            <a:off x="504057" y="1476623"/>
            <a:ext cx="1195332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Analysis of the visuals shows:</a:t>
            </a:r>
          </a:p>
          <a:p>
            <a:r>
              <a:rPr lang="en-US" sz="2800" dirty="0"/>
              <a:t>- EV sales rise each year, especially after 2020</a:t>
            </a:r>
          </a:p>
          <a:p>
            <a:r>
              <a:rPr lang="en-US" sz="2800" dirty="0"/>
              <a:t>- Two-wheelers lead EV adoption with the highest contribution</a:t>
            </a:r>
          </a:p>
          <a:p>
            <a:r>
              <a:rPr lang="en-US" sz="2800" dirty="0"/>
              <a:t>- Three-wheelers maintain strong and steady growth</a:t>
            </a:r>
          </a:p>
          <a:p>
            <a:r>
              <a:rPr lang="en-US" sz="2800" dirty="0"/>
              <a:t>- Four-wheelers and buses grow slowly but consistently</a:t>
            </a:r>
          </a:p>
          <a:p>
            <a:r>
              <a:rPr lang="en-US" sz="2800" dirty="0"/>
              <a:t>- EV penetration improves every year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 sales forecast indicates continued growth ahead</a:t>
            </a:r>
          </a:p>
          <a:p>
            <a:r>
              <a:rPr lang="en-US" sz="2800" dirty="0"/>
              <a:t>The market is expanding, driven mostly by affordable EV segments.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E40D2-B493-5767-E965-BBD3365F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416D4-4CAE-91F6-98E1-A7DEA83E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64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77069" y="1116583"/>
            <a:ext cx="1142656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Challenges Identified:</a:t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2400" dirty="0"/>
              <a:t>- Charging infrastructure is still limited</a:t>
            </a:r>
            <a:br>
              <a:rPr lang="en-US" sz="2400" dirty="0"/>
            </a:br>
            <a:r>
              <a:rPr lang="en-US" sz="2400" dirty="0"/>
              <a:t> - Battery prices remain high</a:t>
            </a:r>
            <a:br>
              <a:rPr lang="en-US" sz="2400" dirty="0"/>
            </a:br>
            <a:r>
              <a:rPr lang="en-US" sz="2400" dirty="0"/>
              <a:t> - Slow adoption of four-wheeler EVs</a:t>
            </a:r>
            <a:br>
              <a:rPr lang="en-US" sz="2400" dirty="0"/>
            </a:br>
            <a:r>
              <a:rPr lang="en-US" sz="2400" dirty="0"/>
              <a:t> - Range concerns still influence buying decisions</a:t>
            </a:r>
            <a:br>
              <a:rPr lang="en-US" sz="2400" dirty="0"/>
            </a:br>
            <a:r>
              <a:rPr lang="en-US" sz="2400" dirty="0"/>
              <a:t> - EV bus adoption is slow due to higher costs</a:t>
            </a:r>
          </a:p>
          <a:p>
            <a:r>
              <a:rPr lang="en-US" sz="2800" b="1" dirty="0"/>
              <a:t>Proposed Solutions:</a:t>
            </a:r>
          </a:p>
          <a:p>
            <a:r>
              <a:rPr lang="en-US" sz="2400" dirty="0"/>
              <a:t> - Expand fast-charging and public-private charging ecosystems</a:t>
            </a:r>
          </a:p>
          <a:p>
            <a:r>
              <a:rPr lang="en-US" sz="2400" dirty="0"/>
              <a:t> - Promote local battery manufacturing and swapping models</a:t>
            </a:r>
          </a:p>
          <a:p>
            <a:r>
              <a:rPr lang="en-US" sz="2400" dirty="0"/>
              <a:t> - Provide better financing options and incentives</a:t>
            </a:r>
          </a:p>
          <a:p>
            <a:r>
              <a:rPr lang="en-US" sz="2400" dirty="0"/>
              <a:t> - Develop highway charging corridors</a:t>
            </a:r>
          </a:p>
          <a:p>
            <a:r>
              <a:rPr lang="en-US" sz="2400" dirty="0"/>
              <a:t> - Encourage state-led EV bus procurement programs</a:t>
            </a:r>
          </a:p>
          <a:p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562268" y="187862"/>
            <a:ext cx="755758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/>
              <a:t>Problems &amp; Proposed Solutions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B4621C-6CF1-56EE-E17C-B0BAE936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362" y="6142284"/>
            <a:ext cx="7141394" cy="356589"/>
          </a:xfrm>
        </p:spPr>
        <p:txBody>
          <a:bodyPr/>
          <a:lstStyle/>
          <a:p>
            <a:r>
              <a:rPr lang="en-IN" dirty="0"/>
              <a:t>Bishal Kumar Mishra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48015C-D0C5-A54D-5D78-92052CDB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0247" y="6201267"/>
            <a:ext cx="774896" cy="356589"/>
          </a:xfrm>
        </p:spPr>
        <p:txBody>
          <a:bodyPr/>
          <a:lstStyle/>
          <a:p>
            <a:fld id="{238B9089-4669-44D5-90AA-F15994F86A3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198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7870D-141F-1500-8443-F8EA595EB5B3}"/>
              </a:ext>
            </a:extLst>
          </p:cNvPr>
          <p:cNvSpPr txBox="1"/>
          <p:nvPr/>
        </p:nvSpPr>
        <p:spPr>
          <a:xfrm>
            <a:off x="625881" y="540519"/>
            <a:ext cx="69112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Future Outlook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D0C2C-4C16-ABE4-D49B-6C5BC3507D08}"/>
              </a:ext>
            </a:extLst>
          </p:cNvPr>
          <p:cNvSpPr txBox="1"/>
          <p:nvPr/>
        </p:nvSpPr>
        <p:spPr>
          <a:xfrm>
            <a:off x="625881" y="1696294"/>
            <a:ext cx="116154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Looking ahead, India’s EV market shows strong momentum:</a:t>
            </a:r>
          </a:p>
          <a:p>
            <a:r>
              <a:rPr lang="en-US" sz="2800" dirty="0"/>
              <a:t> - EV sales expected to grow steadily in the next few years</a:t>
            </a:r>
          </a:p>
          <a:p>
            <a:r>
              <a:rPr lang="en-US" sz="2800" dirty="0"/>
              <a:t> - 2W &amp; 3W will remain the biggest growth drivers</a:t>
            </a:r>
          </a:p>
          <a:p>
            <a:r>
              <a:rPr lang="en-US" sz="2800" dirty="0"/>
              <a:t> - More affordable 4W EVs may boost private car adoption</a:t>
            </a:r>
          </a:p>
          <a:p>
            <a:r>
              <a:rPr lang="en-US" sz="2800" dirty="0"/>
              <a:t> - Charging infrastructure will improve across cities &amp; highways</a:t>
            </a:r>
          </a:p>
          <a:p>
            <a:r>
              <a:rPr lang="en-US" sz="2800" dirty="0"/>
              <a:t> - Domestic battery manufacturing will help reduce costs</a:t>
            </a:r>
          </a:p>
          <a:p>
            <a:r>
              <a:rPr lang="en-US" sz="2800" dirty="0"/>
              <a:t>Overall, the EV ecosystem is moving toward wider adoption and stronger market confidence.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7FD90-DC95-2216-02BE-4AD472A7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Bishal Kumar Mishra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C2213-4A5B-6EE7-B86D-C36B8E5E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72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9A66-DE31-65E9-222D-AF7CD9213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E4B7F-DBD0-A034-BDEE-F26326E752A4}"/>
              </a:ext>
            </a:extLst>
          </p:cNvPr>
          <p:cNvSpPr txBox="1"/>
          <p:nvPr/>
        </p:nvSpPr>
        <p:spPr>
          <a:xfrm>
            <a:off x="576065" y="540519"/>
            <a:ext cx="3240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AAB41-C4E8-8959-CBCA-51E30A475E09}"/>
              </a:ext>
            </a:extLst>
          </p:cNvPr>
          <p:cNvSpPr txBox="1"/>
          <p:nvPr/>
        </p:nvSpPr>
        <p:spPr>
          <a:xfrm>
            <a:off x="568193" y="1764655"/>
            <a:ext cx="1145714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dashboard provides a clear picture of how India’s EV market has grown over the past decade.</a:t>
            </a:r>
            <a:br>
              <a:rPr lang="en-US" sz="3200" dirty="0"/>
            </a:br>
            <a:r>
              <a:rPr lang="en-US" sz="3200" dirty="0"/>
              <a:t>Although challenges remain, the trend shows strong progress, especially after 2020.</a:t>
            </a:r>
            <a:br>
              <a:rPr lang="en-US" sz="3200" dirty="0"/>
            </a:br>
            <a:r>
              <a:rPr lang="en-US" sz="3200" dirty="0"/>
              <a:t>These insights can support planning, investment decisions, and policy development as India continues its shift toward electric mobility.</a:t>
            </a:r>
            <a:endParaRPr lang="en-IN" sz="32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59880-98AC-3EDD-9EC1-D09EBC65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Bishal Kumar Mishra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45BCF-FA8F-BD3F-C050-B38EA4BB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9089-4669-44D5-90AA-F15994F86A3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580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2040</TotalTime>
  <Words>690</Words>
  <Application>Microsoft Office PowerPoint</Application>
  <PresentationFormat>Custom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Cambria Math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Bishal Mishra</cp:lastModifiedBy>
  <cp:revision>12</cp:revision>
  <dcterms:created xsi:type="dcterms:W3CDTF">2021-07-26T15:54:46Z</dcterms:created>
  <dcterms:modified xsi:type="dcterms:W3CDTF">2025-11-20T05:19:15Z</dcterms:modified>
</cp:coreProperties>
</file>